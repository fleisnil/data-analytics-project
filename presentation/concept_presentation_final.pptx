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bb5121fd284b5a" /><Relationship Type="http://schemas.openxmlformats.org/officeDocument/2006/relationships/extended-properties" Target="/docProps/app.xml" Id="Rf4cc60095fef4e73" /><Relationship Type="http://schemas.openxmlformats.org/officeDocument/2006/relationships/officeDocument" Target="/ppt/presentation.xml" Id="R08ba5ba77fab43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2d8e02639f4010"/>
  </p:sldMasterIdLst>
  <p:notesMasterIdLst>
    <p:notesMasterId xmlns:r="http://schemas.openxmlformats.org/officeDocument/2006/relationships" r:id="Rf93ba956eab045cb"/>
  </p:notesMasterIdLst>
  <p:sldIdLst>
    <p:sldId xmlns:r="http://schemas.openxmlformats.org/officeDocument/2006/relationships" id="256" r:id="R741f179adad34d22"/>
    <p:sldId xmlns:r="http://schemas.openxmlformats.org/officeDocument/2006/relationships" id="257" r:id="R26df268a904b4ffa"/>
    <p:sldId xmlns:r="http://schemas.openxmlformats.org/officeDocument/2006/relationships" id="258" r:id="Rf56fcb49bac2492b"/>
    <p:sldId xmlns:r="http://schemas.openxmlformats.org/officeDocument/2006/relationships" id="259" r:id="Rb5cab3a1c7904abe"/>
    <p:sldId xmlns:r="http://schemas.openxmlformats.org/officeDocument/2006/relationships" id="260" r:id="R8e78f2999e1744b3"/>
    <p:sldId xmlns:r="http://schemas.openxmlformats.org/officeDocument/2006/relationships" id="261" r:id="R85460267a6ca4e7d"/>
    <p:sldId xmlns:r="http://schemas.openxmlformats.org/officeDocument/2006/relationships" id="262" r:id="Rf09e6145d1bf4874"/>
    <p:sldId xmlns:r="http://schemas.openxmlformats.org/officeDocument/2006/relationships" id="263" r:id="R04487ef19ee5410f"/>
    <p:sldId xmlns:r="http://schemas.openxmlformats.org/officeDocument/2006/relationships" id="264" r:id="Rfedf673ee0c740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857d56b91948ac" /><Relationship Type="http://schemas.openxmlformats.org/officeDocument/2006/relationships/slideMaster" Target="/ppt/slideMasters/slideMaster1.xml" Id="Rc52d8e02639f4010" /><Relationship Type="http://schemas.openxmlformats.org/officeDocument/2006/relationships/notesMaster" Target="/ppt/notesMasters/notesMaster1.xml" Id="Rf93ba956eab045cb" /><Relationship Type="http://schemas.openxmlformats.org/officeDocument/2006/relationships/presProps" Target="/ppt/presProps.xml" Id="R813c242988b64b82" /><Relationship Type="http://schemas.openxmlformats.org/officeDocument/2006/relationships/tableStyles" Target="/ppt/tableStyles.xml" Id="R44cfdce5934f4f66" /><Relationship Type="http://schemas.openxmlformats.org/officeDocument/2006/relationships/slide" Target="/ppt/slides/slide1.xml" Id="R741f179adad34d22" /><Relationship Type="http://schemas.openxmlformats.org/officeDocument/2006/relationships/slide" Target="/ppt/slides/slide2.xml" Id="R26df268a904b4ffa" /><Relationship Type="http://schemas.openxmlformats.org/officeDocument/2006/relationships/slide" Target="/ppt/slides/slide3.xml" Id="Rf56fcb49bac2492b" /><Relationship Type="http://schemas.openxmlformats.org/officeDocument/2006/relationships/slide" Target="/ppt/slides/slide4.xml" Id="Rb5cab3a1c7904abe" /><Relationship Type="http://schemas.openxmlformats.org/officeDocument/2006/relationships/slide" Target="/ppt/slides/slide5.xml" Id="R8e78f2999e1744b3" /><Relationship Type="http://schemas.openxmlformats.org/officeDocument/2006/relationships/slide" Target="/ppt/slides/slide6.xml" Id="R85460267a6ca4e7d" /><Relationship Type="http://schemas.openxmlformats.org/officeDocument/2006/relationships/slide" Target="/ppt/slides/slide7.xml" Id="Rf09e6145d1bf4874" /><Relationship Type="http://schemas.openxmlformats.org/officeDocument/2006/relationships/slide" Target="/ppt/slides/slide8.xml" Id="R04487ef19ee5410f" /><Relationship Type="http://schemas.openxmlformats.org/officeDocument/2006/relationships/slide" Target="/ppt/slides/slide9.xml" Id="Rfedf673ee0c740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e1d7e3462c40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3d6d7e5c404f18" /><Relationship Type="http://schemas.openxmlformats.org/officeDocument/2006/relationships/notesMaster" Target="/ppt/notesMasters/notesMaster1.xml" Id="R2ad1787dc52143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b4953ac7504608" /><Relationship Type="http://schemas.openxmlformats.org/officeDocument/2006/relationships/notesMaster" Target="/ppt/notesMasters/notesMaster1.xml" Id="R50bde5940d5842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100bf79c644f99" /><Relationship Type="http://schemas.openxmlformats.org/officeDocument/2006/relationships/notesMaster" Target="/ppt/notesMasters/notesMaster1.xml" Id="Re5efab9b506a4c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74f3884b4a428c" /><Relationship Type="http://schemas.openxmlformats.org/officeDocument/2006/relationships/notesMaster" Target="/ppt/notesMasters/notesMaster1.xml" Id="Rbfcdada38bb84a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b5fe5c9c954839" /><Relationship Type="http://schemas.openxmlformats.org/officeDocument/2006/relationships/notesMaster" Target="/ppt/notesMasters/notesMaster1.xml" Id="Rc7c208c5cd3941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3ba00f83c4433a" /><Relationship Type="http://schemas.openxmlformats.org/officeDocument/2006/relationships/notesMaster" Target="/ppt/notesMasters/notesMaster1.xml" Id="R4d1a826130c24b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688de8629a4cda" /><Relationship Type="http://schemas.openxmlformats.org/officeDocument/2006/relationships/notesMaster" Target="/ppt/notesMasters/notesMaster1.xml" Id="R7244835a170047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dc0a6b3ef64fc9" /><Relationship Type="http://schemas.openxmlformats.org/officeDocument/2006/relationships/notesMaster" Target="/ppt/notesMasters/notesMaster1.xml" Id="Rda30771e0d2e41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73c41c95634b6c" /><Relationship Type="http://schemas.openxmlformats.org/officeDocument/2006/relationships/notesMaster" Target="/ppt/notesMasters/notesMaster1.xml" Id="R133ae2293b8149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Replace Group XX and Full names before the concept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https://transport.opendata.ch/docs.html ; https://open-meteo.com/en/docs/historical-weather-api ; https://data.opentransportdata.swiss/en/dataset/ist-daten-v2. Accessed 17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380788b7364b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44495328434ba0" /><Relationship Type="http://schemas.openxmlformats.org/officeDocument/2006/relationships/slideLayout" Target="/ppt/slideLayouts/slideLayout1.xml" Id="R03144c023d884b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144c023d884b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3f5df4cbc49a2" /><Relationship Type="http://schemas.openxmlformats.org/officeDocument/2006/relationships/notesSlide" Target="/ppt/notesSlides/notesSlide1.xml" Id="R87f617fbc6134b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96db4dea84d48" /><Relationship Type="http://schemas.openxmlformats.org/officeDocument/2006/relationships/notesSlide" Target="/ppt/notesSlides/notesSlide2.xml" Id="R4113f4fa34e54e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39b450add4d1d" /><Relationship Type="http://schemas.openxmlformats.org/officeDocument/2006/relationships/notesSlide" Target="/ppt/notesSlides/notesSlide3.xml" Id="R9a1c817598654c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a48091614437f" /><Relationship Type="http://schemas.openxmlformats.org/officeDocument/2006/relationships/notesSlide" Target="/ppt/notesSlides/notesSlide4.xml" Id="R5467de732f0c46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5ae8c82444ee7" /><Relationship Type="http://schemas.openxmlformats.org/officeDocument/2006/relationships/notesSlide" Target="/ppt/notesSlides/notesSlide5.xml" Id="Rb3621178c85c48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fca03615094e25" /><Relationship Type="http://schemas.openxmlformats.org/officeDocument/2006/relationships/notesSlide" Target="/ppt/notesSlides/notesSlide6.xml" Id="R2b5a82d3d0f240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12f0ce8404033" /><Relationship Type="http://schemas.openxmlformats.org/officeDocument/2006/relationships/notesSlide" Target="/ppt/notesSlides/notesSlide7.xml" Id="R8573d277e50348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825d1a760437a" /><Relationship Type="http://schemas.openxmlformats.org/officeDocument/2006/relationships/notesSlide" Target="/ppt/notesSlides/notesSlide8.xml" Id="R31f5492ee14b4f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02f379dfb4bd5" /><Relationship Type="http://schemas.openxmlformats.org/officeDocument/2006/relationships/notesSlide" Target="/ppt/notesSlides/notesSlide9.xml" Id="Rdc571388e4b946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3B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0A307-C747-492F-888F-4A8E0847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Swiss public transport delays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F7D8A-D7D4-449C-8B77-6E97132A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FEAF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FEAF2"/>
                </a:solidFill>
                <a:latin typeface="Arial"/>
                <a:ea typeface="Arial"/>
                <a:cs typeface="Arial"/>
              </a:rPr>
              <a:t>Factors, regional differences and time patterns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731C6-C2F6-40EF-B02E-79D6BD7C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3D1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3D1C8"/>
                </a:solidFill>
                <a:latin typeface="Arial"/>
                <a:ea typeface="Arial"/>
                <a:cs typeface="Arial"/>
              </a:rPr>
              <a:t>Project concept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655C2-A47F-4924-BFEB-F05922B5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Group XX   Full names   ZHAW Data Analytics</a:t>
            </a:r>
          </a:p>
        </p:txBody>
      </p:sp>
    </p:spTree>
    <p:extLst>
      <p:ext uri="{BB962C8B-B14F-4D97-AF65-F5344CB8AC3E}">
        <p14:creationId xmlns:p14="http://schemas.microsoft.com/office/powerpoint/2010/main" val="21422361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C094E-33D1-489C-B791-B5162033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73B5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73B5C"/>
                </a:solidFill>
                <a:latin typeface="Arial"/>
                <a:ea typeface="Arial"/>
                <a:cs typeface="Arial"/>
              </a:rPr>
              <a:t>Research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262D6-28C2-457C-A591-8C810EBF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A9A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9A9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CA4E2-A8FC-4559-80B4-A172FDEA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1038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6FA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6FA4"/>
                </a:solidFill>
                <a:latin typeface="Arial"/>
                <a:ea typeface="Arial"/>
                <a:cs typeface="Arial"/>
              </a:rPr>
              <a:t>Which factors are associated with public transport delays in Switzerland, and how do these effects differ between regions, transport modes and time periods?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D546F-3432-48FE-B8A6-54E3DB0B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9810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100"/>
              </a:spcAft>
              <a:buChar char="•"/>
              <a:defRPr sz="1875" b="0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13F"/>
                </a:solidFill>
                <a:latin typeface="Arial"/>
                <a:ea typeface="Arial"/>
                <a:cs typeface="Arial"/>
              </a:rPr>
              <a:t>Compare delay distributions across seven Swiss large regions</a:t>
            </a:r>
          </a:p>
          <a:p xmlns:a="http://schemas.openxmlformats.org/drawingml/2006/main">
            <a:pPr marL="254000" indent="-114300">
              <a:spcAft>
                <a:spcPts val="1100"/>
              </a:spcAft>
              <a:buChar char="•"/>
              <a:defRPr sz="1875" b="0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13F"/>
                </a:solidFill>
                <a:latin typeface="Arial"/>
                <a:ea typeface="Arial"/>
                <a:cs typeface="Arial"/>
              </a:rPr>
              <a:t>Estimate differences between rail, bus, tram and other observed modes</a:t>
            </a:r>
          </a:p>
          <a:p xmlns:a="http://schemas.openxmlformats.org/drawingml/2006/main">
            <a:pPr marL="254000" indent="-114300">
              <a:spcAft>
                <a:spcPts val="1100"/>
              </a:spcAft>
              <a:buChar char="•"/>
              <a:defRPr sz="1875" b="0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13F"/>
                </a:solidFill>
                <a:latin typeface="Arial"/>
                <a:ea typeface="Arial"/>
                <a:cs typeface="Arial"/>
              </a:rPr>
              <a:t>Test weather and time associations with explicit uncertainty</a:t>
            </a:r>
          </a:p>
          <a:p xmlns:a="http://schemas.openxmlformats.org/drawingml/2006/main">
            <a:pPr marL="254000" indent="-114300">
              <a:spcAft>
                <a:spcPts val="1100"/>
              </a:spcAft>
              <a:buChar char="•"/>
              <a:defRPr sz="1875" b="0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13F"/>
                </a:solidFill>
                <a:latin typeface="Arial"/>
                <a:ea typeface="Arial"/>
                <a:cs typeface="Arial"/>
              </a:rPr>
              <a:t>Study associations without making causal claims</a:t>
            </a:r>
          </a:p>
        </p:txBody>
      </p:sp>
    </p:spTree>
    <p:extLst>
      <p:ext uri="{BB962C8B-B14F-4D97-AF65-F5344CB8AC3E}">
        <p14:creationId xmlns:p14="http://schemas.microsoft.com/office/powerpoint/2010/main" val="21167443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8DBAC-ACAB-4C4C-8D18-DA9DD989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73B5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73B5C"/>
                </a:solidFill>
                <a:latin typeface="Arial"/>
                <a:ea typeface="Arial"/>
                <a:cs typeface="Arial"/>
              </a:rPr>
              <a:t>Study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E603E-A25E-4A3D-AD6A-F381F597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A9A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9A9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5A9377-853A-4DA2-B18E-EC7F1161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A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A9A91"/>
                </a:solidFill>
                <a:latin typeface="Arial"/>
                <a:ea typeface="Arial"/>
                <a:cs typeface="Arial"/>
              </a:rPr>
              <a:t>Unit of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620889-3A1F-497C-A2A1-658B15F0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313F"/>
                </a:solidFill>
                <a:latin typeface="Arial"/>
                <a:ea typeface="Arial"/>
                <a:cs typeface="Arial"/>
              </a:rPr>
              <a:t>One vehicle call at a selected station and scheduled 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9F0E0-6E52-428B-98E2-94EB6FD2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A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A9A91"/>
                </a:solidFill>
                <a:latin typeface="Arial"/>
                <a:ea typeface="Arial"/>
                <a:cs typeface="Arial"/>
              </a:rPr>
              <a:t>Main outcome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9B61B-48F5-4ED9-AE57-0762A072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57375"/>
            <a:ext cx="4381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313F"/>
                </a:solidFill>
                <a:latin typeface="Arial"/>
                <a:ea typeface="Arial"/>
                <a:cs typeface="Arial"/>
              </a:rPr>
              <a:t>Reported delay in minutes</a:t>
            </a:r>
          </a:p>
          <a:p xmlns:a="http://schemas.openxmlformats.org/drawingml/2006/main">
            <a:pPr>
              <a:defRPr sz="2025" b="1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313F"/>
                </a:solidFill>
                <a:latin typeface="Arial"/>
                <a:ea typeface="Arial"/>
                <a:cs typeface="Arial"/>
              </a:rPr>
              <a:t>Delayed at least 5 minutes: yes or 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9DD1E7-6AEA-43B4-9E1E-2D300468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62375"/>
            <a:ext cx="9810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100"/>
              </a:spcAft>
              <a:buChar char="•"/>
              <a:defRPr sz="1800" b="0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13F"/>
                </a:solidFill>
                <a:latin typeface="Arial"/>
                <a:ea typeface="Arial"/>
                <a:cs typeface="Arial"/>
              </a:rPr>
              <a:t>At least 28 service days with weekdays and weekends</a:t>
            </a:r>
          </a:p>
          <a:p xmlns:a="http://schemas.openxmlformats.org/drawingml/2006/main">
            <a:pPr marL="254000" indent="-114300">
              <a:spcAft>
                <a:spcPts val="1100"/>
              </a:spcAft>
              <a:buChar char="•"/>
              <a:defRPr sz="1800" b="0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13F"/>
                </a:solidFill>
                <a:latin typeface="Arial"/>
                <a:ea typeface="Arial"/>
                <a:cs typeface="Arial"/>
              </a:rPr>
              <a:t>Rail hubs and urban stops across all seven large regions</a:t>
            </a:r>
          </a:p>
          <a:p xmlns:a="http://schemas.openxmlformats.org/drawingml/2006/main">
            <a:pPr marL="254000" indent="-114300">
              <a:spcAft>
                <a:spcPts val="1100"/>
              </a:spcAft>
              <a:buChar char="•"/>
              <a:defRPr sz="1800" b="0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13F"/>
                </a:solidFill>
                <a:latin typeface="Arial"/>
                <a:ea typeface="Arial"/>
                <a:cs typeface="Arial"/>
              </a:rPr>
              <a:t>Repeated snapshots collapse to the latest prognosis for each vehicle call</a:t>
            </a:r>
          </a:p>
        </p:txBody>
      </p:sp>
    </p:spTree>
    <p:extLst>
      <p:ext uri="{BB962C8B-B14F-4D97-AF65-F5344CB8AC3E}">
        <p14:creationId xmlns:p14="http://schemas.microsoft.com/office/powerpoint/2010/main" val="13921058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39A42-91B9-461B-8509-B29A6844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73B5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73B5C"/>
                </a:solidFill>
                <a:latin typeface="Arial"/>
                <a:ea typeface="Arial"/>
                <a:cs typeface="Arial"/>
              </a:rPr>
              <a:t>Data 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A7E5C-189E-4E75-A421-70D83F9C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A9A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9A9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4C512-E837-4E28-96B3-55705E73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6FA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6FA4"/>
                </a:solidFill>
                <a:latin typeface="Arial"/>
                <a:ea typeface="Arial"/>
                <a:cs typeface="Arial"/>
              </a:rPr>
              <a:t>Swiss transport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87619-953F-4ACA-831C-84D9EB34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300037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13F"/>
                </a:solidFill>
                <a:latin typeface="Arial"/>
                <a:ea typeface="Arial"/>
                <a:cs typeface="Arial"/>
              </a:rPr>
              <a:t>Scheduled departures, prognosis, delay, operator, mode and station coordinates. Repeated collection forms the primary dataset.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A09FA-A615-42B5-A7E5-D83A20F1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A9A9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A9A91"/>
                </a:solidFill>
                <a:latin typeface="Arial"/>
                <a:ea typeface="Arial"/>
                <a:cs typeface="Arial"/>
              </a:rPr>
              <a:t>Open-Meteo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E67DE-966D-420C-9D15-1EC7B1D5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38375"/>
            <a:ext cx="300037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13F"/>
                </a:solidFill>
                <a:latin typeface="Arial"/>
                <a:ea typeface="Arial"/>
                <a:cs typeface="Arial"/>
              </a:rPr>
              <a:t>Hourly precipitation, snowfall, wind and temperature at each station coordinate.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FBAA9-5354-434B-962E-4A3B4D12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6FA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6FA4"/>
                </a:solidFill>
                <a:latin typeface="Arial"/>
                <a:ea typeface="Arial"/>
                <a:cs typeface="Arial"/>
              </a:rPr>
              <a:t>Actual data v2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8C983-920E-4397-8635-875FB553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38375"/>
            <a:ext cx="300037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13F"/>
                </a:solidFill>
                <a:latin typeface="Arial"/>
                <a:ea typeface="Arial"/>
                <a:cs typeface="Arial"/>
              </a:rPr>
              <a:t>Official daily files and dataset-page scraper for validation or a selected historical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02452-2334-4D10-B8DE-52E5E249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73B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73B5C"/>
                </a:solidFill>
                <a:latin typeface="Arial"/>
                <a:ea typeface="Arial"/>
                <a:cs typeface="Arial"/>
              </a:rPr>
              <a:t>No ready-made Kaggle dataset is used as the primary source.</a:t>
            </a:r>
          </a:p>
        </p:txBody>
      </p:sp>
    </p:spTree>
    <p:extLst>
      <p:ext uri="{BB962C8B-B14F-4D97-AF65-F5344CB8AC3E}">
        <p14:creationId xmlns:p14="http://schemas.microsoft.com/office/powerpoint/2010/main" val="21469774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866F3-6116-4C61-9722-D610FA60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73B5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73B5C"/>
                </a:solidFill>
                <a:latin typeface="Arial"/>
                <a:ea typeface="Arial"/>
                <a:cs typeface="Arial"/>
              </a:rPr>
              <a:t>Integration and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297CE-9610-415A-B0DE-B54D4156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A9A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9A9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09082-6F93-4AA9-AD13-C399ED1B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22860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C9D8DE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313F"/>
                </a:solidFill>
                <a:latin typeface="Arial"/>
                <a:ea typeface="Arial"/>
                <a:cs typeface="Arial"/>
              </a:rPr>
              <a:t>Transport</a:t>
            </a:r>
          </a:p>
          <a:p xmlns:a="http://schemas.openxmlformats.org/drawingml/2006/main">
            <a:pPr>
              <a:defRPr sz="1725" b="1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313F"/>
                </a:solidFill>
                <a:latin typeface="Arial"/>
                <a:ea typeface="Arial"/>
                <a:cs typeface="Arial"/>
              </a:rPr>
              <a:t>API snapshots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EF5AE-4CBB-49F6-8147-564E4F68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90750"/>
            <a:ext cx="22860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C9D8DE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313F"/>
                </a:solidFill>
                <a:latin typeface="Arial"/>
                <a:ea typeface="Arial"/>
                <a:cs typeface="Arial"/>
              </a:rPr>
              <a:t>Preparation</a:t>
            </a:r>
          </a:p>
          <a:p xmlns:a="http://schemas.openxmlformats.org/drawingml/2006/main">
            <a:pPr>
              <a:defRPr sz="1725" b="1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313F"/>
                </a:solidFill>
                <a:latin typeface="Arial"/>
                <a:ea typeface="Arial"/>
                <a:cs typeface="Arial"/>
              </a:rPr>
              <a:t>stable keys and delay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5D1AE-D51F-4070-B4C8-94DED977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90750"/>
            <a:ext cx="22860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C9D8DE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313F"/>
                </a:solidFill>
                <a:latin typeface="Arial"/>
                <a:ea typeface="Arial"/>
                <a:cs typeface="Arial"/>
              </a:rPr>
              <a:t>Weather</a:t>
            </a:r>
          </a:p>
          <a:p xmlns:a="http://schemas.openxmlformats.org/drawingml/2006/main">
            <a:pPr>
              <a:defRPr sz="1725" b="1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313F"/>
                </a:solidFill>
                <a:latin typeface="Arial"/>
                <a:ea typeface="Arial"/>
                <a:cs typeface="Arial"/>
              </a:rPr>
              <a:t>station and local hour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720C2-6E84-4684-A9F2-6429B75C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190750"/>
            <a:ext cx="22860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073B5C"/>
          </a:solidFill>
          <a:ln xmlns:a="http://schemas.openxmlformats.org/drawingml/2006/main" w="9525">
            <a:solidFill>
              <a:srgbClr val="073B5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Storage</a:t>
            </a:r>
          </a:p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SQLite, DuckDB and PostgreSQL</a:t>
            </a:r>
          </a:p>
        </p:txBody>
      </p:sp>
      <p:cxnSp>
        <p:nvCxnSpPr>
          <p:cNvPr id="18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905125" y="283368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A9A91"/>
            </a:solidFill>
            <a:prstDash val="solid"/>
          </a:ln>
        </p:spPr>
      </p:cxn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762625" y="283368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A9A91"/>
            </a:solidFill>
            <a:prstDash val="solid"/>
          </a:ln>
        </p:spPr>
      </p:cxnSp>
      <p:cxnSp>
        <p:nvCxnSpPr>
          <p:cNvPr id="2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620125" y="283368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A9A91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298DEC-8713-4419-BC00-A38BBB2D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A9A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9A91"/>
                </a:solidFill>
                <a:latin typeface="Arial"/>
                <a:ea typeface="Arial"/>
                <a:cs typeface="Arial"/>
              </a:rPr>
              <a:t>Audit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1E70C-D51B-479D-8861-77A96854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577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313F"/>
                </a:solidFill>
                <a:latin typeface="Arial"/>
                <a:ea typeface="Arial"/>
                <a:cs typeface="Arial"/>
              </a:rPr>
              <a:t>Every join records matching keys, duplicates, row losses and weather coverage.</a:t>
            </a:r>
          </a:p>
        </p:txBody>
      </p:sp>
    </p:spTree>
    <p:extLst>
      <p:ext uri="{BB962C8B-B14F-4D97-AF65-F5344CB8AC3E}">
        <p14:creationId xmlns:p14="http://schemas.microsoft.com/office/powerpoint/2010/main" val="2863829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D61E6-782F-443B-B306-61BCE470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73B5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73B5C"/>
                </a:solidFill>
                <a:latin typeface="Arial"/>
                <a:ea typeface="Arial"/>
                <a:cs typeface="Arial"/>
              </a:rPr>
              <a:t>Analysis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A3C47-E8AD-4BB9-A948-5C545632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A9A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9A9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70701-5898-401D-8B77-D64C949B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6FA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6FA4"/>
                </a:solidFill>
                <a:latin typeface="Arial"/>
                <a:ea typeface="Arial"/>
                <a:cs typeface="Arial"/>
              </a:rPr>
              <a:t>Core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C0408-965A-4555-AB4A-73E56F05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4953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100"/>
              </a:spcAft>
              <a:buChar char="•"/>
              <a:defRPr sz="1800" b="0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13F"/>
                </a:solidFill>
                <a:latin typeface="Arial"/>
                <a:ea typeface="Arial"/>
                <a:cs typeface="Arial"/>
              </a:rPr>
              <a:t>Graphical and non-graphical EDA</a:t>
            </a:r>
          </a:p>
          <a:p xmlns:a="http://schemas.openxmlformats.org/drawingml/2006/main">
            <a:pPr marL="254000" indent="-114300">
              <a:spcAft>
                <a:spcPts val="1100"/>
              </a:spcAft>
              <a:buChar char="•"/>
              <a:defRPr sz="1800" b="0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13F"/>
                </a:solidFill>
                <a:latin typeface="Arial"/>
                <a:ea typeface="Arial"/>
                <a:cs typeface="Arial"/>
              </a:rPr>
              <a:t>OLS association model with robust standard errors</a:t>
            </a:r>
          </a:p>
          <a:p xmlns:a="http://schemas.openxmlformats.org/drawingml/2006/main">
            <a:pPr marL="254000" indent="-114300">
              <a:spcAft>
                <a:spcPts val="1100"/>
              </a:spcAft>
              <a:buChar char="•"/>
              <a:defRPr sz="1800" b="0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13F"/>
                </a:solidFill>
                <a:latin typeface="Arial"/>
                <a:ea typeface="Arial"/>
                <a:cs typeface="Arial"/>
              </a:rPr>
              <a:t>Random forest with chronological holdout</a:t>
            </a:r>
          </a:p>
          <a:p xmlns:a="http://schemas.openxmlformats.org/drawingml/2006/main">
            <a:pPr marL="254000" indent="-114300">
              <a:spcAft>
                <a:spcPts val="1100"/>
              </a:spcAft>
              <a:buChar char="•"/>
              <a:defRPr sz="1800" b="0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13F"/>
                </a:solidFill>
                <a:latin typeface="Arial"/>
                <a:ea typeface="Arial"/>
                <a:cs typeface="Arial"/>
              </a:rPr>
              <a:t>RMSE, MAE and R² compared with a mean baseline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B37A4E-C9FA-4531-8214-58E5D4B1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A9A9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9A91"/>
                </a:solidFill>
                <a:latin typeface="Arial"/>
                <a:ea typeface="Arial"/>
                <a:cs typeface="Arial"/>
              </a:rPr>
              <a:t>Additional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6351B-3DD9-4888-A050-7EFE610E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762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100"/>
              </a:spcAft>
              <a:buChar char="•"/>
              <a:defRPr sz="1800" b="0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13F"/>
                </a:solidFill>
                <a:latin typeface="Arial"/>
                <a:ea typeface="Arial"/>
                <a:cs typeface="Arial"/>
              </a:rPr>
              <a:t>ANOVA, chi-squared and Spearman tests with p-values and effect sizes</a:t>
            </a:r>
          </a:p>
          <a:p xmlns:a="http://schemas.openxmlformats.org/drawingml/2006/main">
            <a:pPr marL="254000" indent="-114300">
              <a:spcAft>
                <a:spcPts val="1100"/>
              </a:spcAft>
              <a:buChar char="•"/>
              <a:defRPr sz="1800" b="0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13F"/>
                </a:solidFill>
                <a:latin typeface="Arial"/>
                <a:ea typeface="Arial"/>
                <a:cs typeface="Arial"/>
              </a:rPr>
              <a:t>k-means station profiles selected by silhouette score</a:t>
            </a:r>
          </a:p>
          <a:p xmlns:a="http://schemas.openxmlformats.org/drawingml/2006/main">
            <a:pPr marL="254000" indent="-114300">
              <a:spcAft>
                <a:spcPts val="1100"/>
              </a:spcAft>
              <a:buChar char="•"/>
              <a:defRPr sz="1800" b="0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13F"/>
                </a:solidFill>
                <a:latin typeface="Arial"/>
                <a:ea typeface="Arial"/>
                <a:cs typeface="Arial"/>
              </a:rPr>
              <a:t>Interactive geographic station map</a:t>
            </a:r>
          </a:p>
          <a:p xmlns:a="http://schemas.openxmlformats.org/drawingml/2006/main">
            <a:pPr marL="254000" indent="-114300">
              <a:spcAft>
                <a:spcPts val="1100"/>
              </a:spcAft>
              <a:buChar char="•"/>
              <a:defRPr sz="1800" b="0">
                <a:solidFill>
                  <a:srgbClr val="1631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13F"/>
                </a:solidFill>
                <a:latin typeface="Arial"/>
                <a:ea typeface="Arial"/>
                <a:cs typeface="Arial"/>
              </a:rPr>
              <a:t>DuckDB SQL joins, with PostgreSQL implementation included</a:t>
            </a:r>
          </a:p>
        </p:txBody>
      </p:sp>
    </p:spTree>
    <p:extLst>
      <p:ext uri="{BB962C8B-B14F-4D97-AF65-F5344CB8AC3E}">
        <p14:creationId xmlns:p14="http://schemas.microsoft.com/office/powerpoint/2010/main" val="14473352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B679A-0125-4858-9ADF-0F4ADBE1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73B5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73B5C"/>
                </a:solidFill>
                <a:latin typeface="Arial"/>
                <a:ea typeface="Arial"/>
                <a:cs typeface="Arial"/>
              </a:rPr>
              <a:t>Risks and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D4505-4B73-4273-BF7C-40BD2069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A9A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9A9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809625" y="1381125"/>
          <a:ext xmlns:a="http://schemas.openxmlformats.org/drawingml/2006/main" cx="10572750" cy="4191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286375"/>
                <a:gridCol w="5286375"/>
              </a:tblGrid>
              <a:tr h="6985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</a:t>
                      </a:r>
                    </a:p>
                  </a:txBody>
                  <a:tcPr marL="91440" marR="91440" marT="45720" marB="45720">
                    <a:solidFill>
                      <a:srgbClr val="07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073B5C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Forecast rather than exact event time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Use the term reported delay and preserve prognosis status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Selective real-time coverage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Report missingness by mode, operator and region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Repeated stationboard entries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Keep the latest record for a stable vehicle-call key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Unequal station representation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Use a stratified panel and disclose sampling limits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Observational confounding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Interpret coefficients as associations only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33197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0FF71-8096-4D04-A302-E9ADEAA4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73B5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73B5C"/>
                </a:solidFill>
                <a:latin typeface="Arial"/>
                <a:ea typeface="Arial"/>
                <a:cs typeface="Arial"/>
              </a:rPr>
              <a:t>Project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A0494-5901-4388-B452-B38BB4EB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A9A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9A9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85800" y="1381125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6826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Phase</a:t>
                      </a:r>
                    </a:p>
                  </a:txBody>
                  <a:tcPr marL="91440" marR="91440" marT="45720" marB="45720">
                    <a:solidFill>
                      <a:srgbClr val="07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07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073B5C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Approval and pilot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Week 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Approved question and validated station panel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Collection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28+ days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Timestamped raw responses and collection log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Preparation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After collection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Audit tables, SQLite and PostgreSQL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Analysis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After preparation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EDA, tests, models, clusters and map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Communication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Final week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6313F"/>
                          </a:solidFill>
                          <a:latin typeface="Arial"/>
                          <a:ea typeface="Arial"/>
                          <a:cs typeface="Arial"/>
                        </a:rPr>
                        <a:t>GitHub, PDF, video and Moodle ZIP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3776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3B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0420D5-1DED-4C99-B81B-75C2CAD8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1437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Concept approval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315F5-52E7-4CE7-B7FC-FCE38F4B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3D1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3D1C8"/>
                </a:solidFill>
                <a:latin typeface="Arial"/>
                <a:ea typeface="Arial"/>
                <a:cs typeface="Arial"/>
              </a:rPr>
              <a:t>We request approval for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230B8-71C0-47C3-B977-BD98A2A9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98107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400"/>
              </a:spcAft>
              <a:buChar char="•"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research question and station panel</a:t>
            </a:r>
          </a:p>
          <a:p xmlns:a="http://schemas.openxmlformats.org/drawingml/2006/main">
            <a:pPr marL="254000" indent="-114300">
              <a:spcAft>
                <a:spcPts val="1400"/>
              </a:spcAft>
              <a:buChar char="•"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repeated stationboard API collection as the primary source</a:t>
            </a:r>
          </a:p>
          <a:p xmlns:a="http://schemas.openxmlformats.org/drawingml/2006/main">
            <a:pPr marL="254000" indent="-114300">
              <a:spcAft>
                <a:spcPts val="1400"/>
              </a:spcAft>
              <a:buChar char="•"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weather integration and regional comparisons</a:t>
            </a:r>
          </a:p>
          <a:p xmlns:a="http://schemas.openxmlformats.org/drawingml/2006/main">
            <a:pPr marL="254000" indent="-114300">
              <a:spcAft>
                <a:spcPts val="1400"/>
              </a:spcAft>
              <a:buChar char="•"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regression as the main model, with clustering as an additional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FA479-A650-4EFB-9EF8-F0DEB883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9151422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2026-09-17T13:22:31.5190000Z</dcterms:created>
  <dcterms:modified xsi:type="dcterms:W3CDTF">2026-09-17T13:22:31.5190000Z</dcterms:modified>
</coreProperties>
</file>