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9320934b4476e" /><Relationship Type="http://schemas.openxmlformats.org/officeDocument/2006/relationships/extended-properties" Target="/docProps/app.xml" Id="R0a490833392c4e18" /><Relationship Type="http://schemas.openxmlformats.org/officeDocument/2006/relationships/officeDocument" Target="/ppt/presentation.xml" Id="Rd16519c1ef07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8227d6fd2470d"/>
  </p:sldMasterIdLst>
  <p:notesMasterIdLst>
    <p:notesMasterId xmlns:r="http://schemas.openxmlformats.org/officeDocument/2006/relationships" r:id="Red10268debf743a3"/>
  </p:notesMasterIdLst>
  <p:sldIdLst>
    <p:sldId xmlns:r="http://schemas.openxmlformats.org/officeDocument/2006/relationships" id="256" r:id="Reddf4f42bd674ae8"/>
    <p:sldId xmlns:r="http://schemas.openxmlformats.org/officeDocument/2006/relationships" id="257" r:id="Rf0a2a05cc50a41dc"/>
    <p:sldId xmlns:r="http://schemas.openxmlformats.org/officeDocument/2006/relationships" id="258" r:id="Rf0650b5fe9a04977"/>
    <p:sldId xmlns:r="http://schemas.openxmlformats.org/officeDocument/2006/relationships" id="259" r:id="R220b0ea9884c41ad"/>
    <p:sldId xmlns:r="http://schemas.openxmlformats.org/officeDocument/2006/relationships" id="260" r:id="R0726b1501b90413a"/>
    <p:sldId xmlns:r="http://schemas.openxmlformats.org/officeDocument/2006/relationships" id="261" r:id="R27f3e063c39140bb"/>
    <p:sldId xmlns:r="http://schemas.openxmlformats.org/officeDocument/2006/relationships" id="262" r:id="R3ad363154bf14f7b"/>
    <p:sldId xmlns:r="http://schemas.openxmlformats.org/officeDocument/2006/relationships" id="263" r:id="R7928386b2fa84ed5"/>
    <p:sldId xmlns:r="http://schemas.openxmlformats.org/officeDocument/2006/relationships" id="264" r:id="R01dbcd4f28e844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38b5e19d2420b" /><Relationship Type="http://schemas.openxmlformats.org/officeDocument/2006/relationships/slideMaster" Target="/ppt/slideMasters/slideMaster1.xml" Id="Rf0f8227d6fd2470d" /><Relationship Type="http://schemas.openxmlformats.org/officeDocument/2006/relationships/notesMaster" Target="/ppt/notesMasters/notesMaster1.xml" Id="Red10268debf743a3" /><Relationship Type="http://schemas.openxmlformats.org/officeDocument/2006/relationships/presProps" Target="/ppt/presProps.xml" Id="Rd583473e027c47f0" /><Relationship Type="http://schemas.openxmlformats.org/officeDocument/2006/relationships/tableStyles" Target="/ppt/tableStyles.xml" Id="Reec1aac339ec4fe1" /><Relationship Type="http://schemas.openxmlformats.org/officeDocument/2006/relationships/slide" Target="/ppt/slides/slide1.xml" Id="Reddf4f42bd674ae8" /><Relationship Type="http://schemas.openxmlformats.org/officeDocument/2006/relationships/slide" Target="/ppt/slides/slide2.xml" Id="Rf0a2a05cc50a41dc" /><Relationship Type="http://schemas.openxmlformats.org/officeDocument/2006/relationships/slide" Target="/ppt/slides/slide3.xml" Id="Rf0650b5fe9a04977" /><Relationship Type="http://schemas.openxmlformats.org/officeDocument/2006/relationships/slide" Target="/ppt/slides/slide4.xml" Id="R220b0ea9884c41ad" /><Relationship Type="http://schemas.openxmlformats.org/officeDocument/2006/relationships/slide" Target="/ppt/slides/slide5.xml" Id="R0726b1501b90413a" /><Relationship Type="http://schemas.openxmlformats.org/officeDocument/2006/relationships/slide" Target="/ppt/slides/slide6.xml" Id="R27f3e063c39140bb" /><Relationship Type="http://schemas.openxmlformats.org/officeDocument/2006/relationships/slide" Target="/ppt/slides/slide7.xml" Id="R3ad363154bf14f7b" /><Relationship Type="http://schemas.openxmlformats.org/officeDocument/2006/relationships/slide" Target="/ppt/slides/slide8.xml" Id="R7928386b2fa84ed5" /><Relationship Type="http://schemas.openxmlformats.org/officeDocument/2006/relationships/slide" Target="/ppt/slides/slide9.xml" Id="R01dbcd4f28e8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6acd43da844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bfb0e16c44e8b" /><Relationship Type="http://schemas.openxmlformats.org/officeDocument/2006/relationships/notesMaster" Target="/ppt/notesMasters/notesMaster1.xml" Id="R34702a6286e7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58d34d82b4a2f" /><Relationship Type="http://schemas.openxmlformats.org/officeDocument/2006/relationships/notesMaster" Target="/ppt/notesMasters/notesMaster1.xml" Id="R6a9307cfacc2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dda224b2241d4" /><Relationship Type="http://schemas.openxmlformats.org/officeDocument/2006/relationships/notesMaster" Target="/ppt/notesMasters/notesMaster1.xml" Id="Rbb8bbae97f4c4d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7885a3d6314666" /><Relationship Type="http://schemas.openxmlformats.org/officeDocument/2006/relationships/notesMaster" Target="/ppt/notesMasters/notesMaster1.xml" Id="Rc6364dd3a89649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e8ae817e7c4c66" /><Relationship Type="http://schemas.openxmlformats.org/officeDocument/2006/relationships/notesMaster" Target="/ppt/notesMasters/notesMaster1.xml" Id="Rc0b68b77965b41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b671e9b45411e" /><Relationship Type="http://schemas.openxmlformats.org/officeDocument/2006/relationships/notesMaster" Target="/ppt/notesMasters/notesMaster1.xml" Id="R885eab278af1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49d97f5e3f4b5a" /><Relationship Type="http://schemas.openxmlformats.org/officeDocument/2006/relationships/notesMaster" Target="/ppt/notesMasters/notesMaster1.xml" Id="Rc89c684fa7dd44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9bd8c8d76544dd" /><Relationship Type="http://schemas.openxmlformats.org/officeDocument/2006/relationships/notesMaster" Target="/ppt/notesMasters/notesMaster1.xml" Id="R3cf7ca57a05e4a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fd4647c3fa4676" /><Relationship Type="http://schemas.openxmlformats.org/officeDocument/2006/relationships/notesMaster" Target="/ppt/notesMasters/notesMaster1.xml" Id="R6d946f77de7b45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Group XX and Full names before the concept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Transport API: https://transport.opendata.ch/docs.html</a:t>
            </a:r>
          </a:p>
          <a:p xmlns:a="http://schemas.openxmlformats.org/drawingml/2006/main">
            <a:r>
              <a:t>Weather: https://open-meteo.com/en/docs/historical-weather-api</a:t>
            </a:r>
          </a:p>
          <a:p xmlns:a="http://schemas.openxmlformats.org/drawingml/2006/main">
            <a:r>
              <a:t>Actual data v2: https://data.opentransportdata.swiss/en/dataset/ist-daten-v2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525fa5fd140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8a7502d6bc45a7" /><Relationship Type="http://schemas.openxmlformats.org/officeDocument/2006/relationships/slideLayout" Target="/ppt/slideLayouts/slideLayout1.xml" Id="R7031ad4e5fbe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1ad4e5fbe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5e70563b94434" /><Relationship Type="http://schemas.openxmlformats.org/officeDocument/2006/relationships/notesSlide" Target="/ppt/notesSlides/notesSlide1.xml" Id="R850d152a9fba43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a5bf9372b4a2e" /><Relationship Type="http://schemas.openxmlformats.org/officeDocument/2006/relationships/notesSlide" Target="/ppt/notesSlides/notesSlide2.xml" Id="Rb0eb1d946ee0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94ad447da43ef" /><Relationship Type="http://schemas.openxmlformats.org/officeDocument/2006/relationships/notesSlide" Target="/ppt/notesSlides/notesSlide3.xml" Id="R010dd69627ed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328ec119c4360" /><Relationship Type="http://schemas.openxmlformats.org/officeDocument/2006/relationships/notesSlide" Target="/ppt/notesSlides/notesSlide4.xml" Id="Rad85536b0c66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4fa6f5c5e44ab" /><Relationship Type="http://schemas.openxmlformats.org/officeDocument/2006/relationships/notesSlide" Target="/ppt/notesSlides/notesSlide5.xml" Id="R73f6cce78ec445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204ed79734458" /><Relationship Type="http://schemas.openxmlformats.org/officeDocument/2006/relationships/notesSlide" Target="/ppt/notesSlides/notesSlide6.xml" Id="R359434c574c648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cd60564e14c87" /><Relationship Type="http://schemas.openxmlformats.org/officeDocument/2006/relationships/notesSlide" Target="/ppt/notesSlides/notesSlide7.xml" Id="R3b1c184703364d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dec47dcf0411c" /><Relationship Type="http://schemas.openxmlformats.org/officeDocument/2006/relationships/notesSlide" Target="/ppt/notesSlides/notesSlide8.xml" Id="R2e21d2f5063a43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12743b8be4305" /><Relationship Type="http://schemas.openxmlformats.org/officeDocument/2006/relationships/notesSlide" Target="/ppt/notesSlides/notesSlide9.xml" Id="R4267bd77a1c0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0A307-C747-492F-888F-4A8E0847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Swiss public transport delays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F7D8A-D7D4-449C-8B77-6E97132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CFEAF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FEAF2"/>
                </a:solidFill>
                <a:latin typeface="Arial"/>
                <a:ea typeface="Arial"/>
                <a:cs typeface="Arial"/>
              </a:rPr>
              <a:t>Factors, regional differences and time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731C6-C2F6-40EF-B02E-79D6BD7C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3D1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3D1C8"/>
                </a:solidFill>
                <a:latin typeface="Arial"/>
                <a:ea typeface="Arial"/>
                <a:cs typeface="Arial"/>
              </a:rPr>
              <a:t>Project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655C2-A47F-4924-BFEB-F05922B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XX   Full names   ZHAW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142236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C094E-33D1-489C-B791-B516203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262D6-28C2-457C-A591-8C810EB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CA4E2-A8FC-4559-80B4-A172FDE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Which factors are associated with public transport delays in Switzerland, and how do these effects differ between regions, transport modes and time periods?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546F-3432-48FE-B8A6-54E3DB0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Compare delay distributions across seven Swiss large regions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Estimate differences between rail, bus, tram and other observed modes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Test weather and time associations with explicit uncertainty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Study associations without making causal claims</a:t>
            </a:r>
          </a:p>
        </p:txBody>
      </p:sp>
    </p:spTree>
    <p:extLst>
      <p:ext uri="{BB962C8B-B14F-4D97-AF65-F5344CB8AC3E}">
        <p14:creationId xmlns:p14="http://schemas.microsoft.com/office/powerpoint/2010/main" val="2116744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8DBAC-ACAB-4C4C-8D18-DA9DD98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E603E-A25E-4A3D-AD6A-F381F59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A9377-853A-4DA2-B18E-EC7F1161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20889-3A1F-497C-A2A1-658B15F0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One vehicle call at a selected station and scheduled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9F0E0-6E52-428B-98E2-94EB6FD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Main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9B61B-48F5-4ED9-AE57-0762A07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381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Reported delay in minutes</a:t>
            </a:r>
          </a:p>
          <a:p xmlns:a="http://schemas.openxmlformats.org/drawingml/2006/main">
            <a:pPr>
              <a:buNone/>
              <a:defRPr sz="20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Delayed at least 5 minutes: yes or 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DD1E7-6AEA-43B4-9E1E-2D30046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Target: 28 service days, including weekdays and weekends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Selected rail hubs and urban stops across seven large regions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Repeated snapshots retain the latest reported delay per vehicle call</a:t>
            </a:r>
          </a:p>
        </p:txBody>
      </p:sp>
    </p:spTree>
    <p:extLst>
      <p:ext uri="{BB962C8B-B14F-4D97-AF65-F5344CB8AC3E}">
        <p14:creationId xmlns:p14="http://schemas.microsoft.com/office/powerpoint/2010/main" val="1392105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9A42-91B9-461B-8509-B29A6844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A7E5C-189E-4E75-A421-70D83F9C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4C512-E837-4E28-96B3-55705E7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Swiss transport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7619-953F-4ACA-831C-84D9EB3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300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Scheduled departures, prognosis, delay, operator, mode and station coordinates. Repeated collection forms the primary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A09FA-A615-42B5-A7E5-D83A20F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Open-Meteo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E67DE-966D-420C-9D15-1EC7B1D5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00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Hourly precipitation, snowfall, wind and temperature at each station coordinate.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FBAA9-5354-434B-962E-4A3B4D12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Actual data 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8C983-920E-4397-8635-875FB55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300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Official daily files and dataset-page scraper for validation or a selected historical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02452-2334-4D10-B8DE-52E5E24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No ready-made Kaggle dataset is used as the primary source.</a:t>
            </a:r>
          </a:p>
        </p:txBody>
      </p:sp>
    </p:spTree>
    <p:extLst>
      <p:ext uri="{BB962C8B-B14F-4D97-AF65-F5344CB8AC3E}">
        <p14:creationId xmlns:p14="http://schemas.microsoft.com/office/powerpoint/2010/main" val="2146977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866F3-6116-4C61-9722-D610FA60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Integration and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97CE-9610-415A-B0DE-B54D415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09082-6F93-4AA9-AD13-C399ED1B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C9D8D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Transport</a:t>
            </a:r>
          </a:p>
          <a:p xmlns:a="http://schemas.openxmlformats.org/drawingml/2006/main">
            <a:pPr>
              <a:buNone/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API snapshots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EF5AE-4CBB-49F6-8147-564E4F6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C9D8D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Preparation</a:t>
            </a:r>
          </a:p>
          <a:p xmlns:a="http://schemas.openxmlformats.org/drawingml/2006/main">
            <a:pPr>
              <a:buNone/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stable keys and delay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5D1AE-D51F-4070-B4C8-94DED97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C9D8D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Weather</a:t>
            </a:r>
          </a:p>
          <a:p xmlns:a="http://schemas.openxmlformats.org/drawingml/2006/main">
            <a:pPr>
              <a:buNone/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station and UTC hour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720C2-6E84-4684-A9F2-6429B75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73B5C"/>
          </a:solidFill>
          <a:ln xmlns:a="http://schemas.openxmlformats.org/drawingml/2006/main" w="9525">
            <a:solidFill>
              <a:srgbClr val="073B5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and DuckDB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0512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9A91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6262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9A91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2012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9A9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98DEC-8713-4419-BC00-A38BBB2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Audit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1E70C-D51B-479D-8861-77A96854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Every join records matching keys, duplicates, row losses and weather coverage.</a:t>
            </a:r>
          </a:p>
        </p:txBody>
      </p:sp>
    </p:spTree>
    <p:extLst>
      <p:ext uri="{BB962C8B-B14F-4D97-AF65-F5344CB8AC3E}">
        <p14:creationId xmlns:p14="http://schemas.microsoft.com/office/powerpoint/2010/main" val="286382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D61E6-782F-443B-B306-61BCE47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Analysis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A3C47-E8AD-4BB9-A948-5C54563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70701-5898-401D-8B77-D64C949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Core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C0408-965A-4555-AB4A-73E56F0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Graphical and non-graphical EDA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OLS associations with station-clustered uncertainty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Random forest with chronological holdout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RMSE, MAE and R² versus a training-mean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37A4E-C9FA-4531-8214-58E5D4B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Additional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6351B-3DD9-4888-A050-7EFE610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ANOVA, chi-squared and Spearman tests with effect sizes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k-means station profiles selected by silhouette score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Interactive geographic station map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DuckDB SQL joins; PostgreSQL remains optional</a:t>
            </a:r>
          </a:p>
        </p:txBody>
      </p:sp>
    </p:spTree>
    <p:extLst>
      <p:ext uri="{BB962C8B-B14F-4D97-AF65-F5344CB8AC3E}">
        <p14:creationId xmlns:p14="http://schemas.microsoft.com/office/powerpoint/2010/main" val="1447335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679A-0125-4858-9ADF-0F4ADBE1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Risks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D4505-4B73-4273-BF7C-40BD206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381125"/>
          <a:ext xmlns:a="http://schemas.openxmlformats.org/drawingml/2006/main" cx="10572750" cy="4191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286375"/>
                <a:gridCol w="5286375"/>
              </a:tblGrid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Forecast rather than exact event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Use reported delay and record its API source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Selective real-time 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Report missingness by mode, operator and region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Repeated stationboard entries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Keep the latest record for a stable vehicle-call key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Unequal station representation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Use a stratified panel and disclose sampling limits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Observational confounding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Interpret coefficients as associations only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319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FF71-8096-4D04-A302-E9ADEAA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Project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A0494-5901-4388-B452-B38BB4E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82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Approval and pilot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Week 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Approved question and validated station panel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Collection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28+ 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Timestamped raw responses and collection log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After collection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Audit tables, SQLite and DuckDB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After 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EDA, tests, models, clusters and map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Communication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Final week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GitHub, PDF, video and Moodle ZIP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77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420D5-1DED-4C99-B81B-75C2CAD8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315F5-52E7-4CE7-B7FC-FCE38F4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3D1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D1C8"/>
                </a:solidFill>
                <a:latin typeface="Arial"/>
                <a:ea typeface="Arial"/>
                <a:cs typeface="Arial"/>
              </a:rPr>
              <a:t>We request approval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30B8-71C0-47C3-B977-BD98A2A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9810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research question and station panel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repeated stationboard API collection as the primary source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weather integration and regional comparisons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 as the main model, with clustering as an additional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FA479-A650-4EFB-9EF8-F0DEB88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15142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2026-09-24T17:13:09.4350000Z</dcterms:created>
  <dcterms:modified xsi:type="dcterms:W3CDTF">2026-09-24T17:13:09.4350000Z</dcterms:modified>
</coreProperties>
</file>